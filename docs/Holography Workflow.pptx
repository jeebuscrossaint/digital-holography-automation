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0E21-965A-3483-12E5-BD6396835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B8D52-C5AB-90BA-E714-A7BA10093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12190-0CE0-3EA4-D487-863428F8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5533C-0926-74A0-B030-91CCE323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05379-335E-E9AD-8708-26A1848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FFFC-812D-6880-5F43-C8AEF608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552A-0E46-11BC-618B-71AACDA5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07D7B-EC38-43EA-5C78-4C9E23BC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3841-0989-A1F7-2958-465AE449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0676-ABA7-C900-9266-126CB4E0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4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6C17-6061-8F9A-6A55-D0D78331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D193F-B693-4930-B6AE-27FFCA272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E4723-6771-5875-1E50-607CE31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649A-E42E-7B29-9CC0-E9E867F5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6A389-1AC0-0B7D-F349-68636B63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1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62BB-8761-C7E3-703F-A6120CF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19955-A026-265C-BD72-6CB367559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2832B-163B-2F33-C452-F36FAA57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FFB95-6C06-396E-C007-C344DA5B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1181E-4CBC-5874-56C9-9061FB9E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D43CD-1853-5A83-D17F-30246B50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6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F805-9B2C-0D24-264D-7F698E95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144F6-6C30-7D95-6238-939A165F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66192-AE52-4678-228E-6DA1FE7B2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36C472-CB38-851C-60F0-358337A72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DC9E0-19B5-8A9C-88B5-A3376FA99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97881-2A03-2AB6-C546-FA3574A7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F8C24-0AA9-3510-B8E5-BD5EBA42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2BB23-49A0-6B5B-2DAF-84D913DA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1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BA51-BD77-EDFF-41F4-49D01351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BFC7F-C6B6-F6F4-A2F1-8FB33556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F14D6-9B6D-73D5-5E98-E2BF30B0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DFB95-0FA4-E1D6-6B4B-017BBC11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19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88054-5DA7-AEDF-D2F5-7A8A44B2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578D5-37D3-C757-3A3E-CCA661E1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0E5CA-293E-E5BC-396B-F9421C6D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5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C461-955F-DD0B-47C1-5083576D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D7FBB-334D-B740-A405-DB09709D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1404-6B37-F35D-B8BD-5A3E1C68F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DAFB-F3E7-7318-8549-0610A45A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4E50F-95EB-24D8-6FD8-78AB07AC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4D070-EE56-B648-6F8A-B3AE1296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6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EF70-897C-E3E7-11BF-F3393F70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F80B4-BE74-6CA4-C015-6219B821C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57203-CE9D-2071-7F5F-45D14B903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D394A-05AC-A509-71C1-6283BB54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CC285-2C0A-508A-42EF-56253AFA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E9D43-D8B5-F949-7DB3-683C6448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05D2-AC42-634D-A2A1-39430820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9C9A3-0778-7C5D-10F8-797573CD4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07C3-028E-7621-C84D-B9DDC85A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4DEC-FE8F-86E8-BAF3-05BD6DB2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A9CF5-FB8D-9804-7BDD-29FE8709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0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80AC0-3481-A7BC-D2A1-67CDDA017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5873A-58F2-8077-8C73-0E3AFCF8F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22C1D-76DA-8BDE-7FC9-5F293D98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7C579-C00C-1068-15D8-7B6313D9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9725B-963F-B270-2F86-DD413C3B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5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3F591-AFA3-1BC3-A082-88AD53CE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FFF54-98EB-C713-9037-495C111C7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2E26-2E3B-1623-621C-502D5D278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57D4C-0386-44D4-A914-7508C1E4C4F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1A58-67AD-025D-FCC1-209CBF92E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82B0-7C50-7D16-F91F-F08FF34D5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BFC81-A3B7-4F0B-B7A4-88F901589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8AECD2-CB0B-FFCA-9C59-71CCD5A9F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 very short overview on the Off-Axis Holography System</a:t>
            </a:r>
          </a:p>
        </p:txBody>
      </p:sp>
    </p:spTree>
    <p:extLst>
      <p:ext uri="{BB962C8B-B14F-4D97-AF65-F5344CB8AC3E}">
        <p14:creationId xmlns:p14="http://schemas.microsoft.com/office/powerpoint/2010/main" val="184680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87F94F-B12F-0955-B6A4-EF816651E610}"/>
              </a:ext>
            </a:extLst>
          </p:cNvPr>
          <p:cNvSpPr/>
          <p:nvPr/>
        </p:nvSpPr>
        <p:spPr>
          <a:xfrm>
            <a:off x="1076561" y="1155584"/>
            <a:ext cx="2156832" cy="1314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Tunable Laser Source for Wavelength Selectivity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33F83-7BD3-516D-3891-3C06A7B713DA}"/>
              </a:ext>
            </a:extLst>
          </p:cNvPr>
          <p:cNvSpPr txBox="1"/>
          <p:nvPr/>
        </p:nvSpPr>
        <p:spPr>
          <a:xfrm>
            <a:off x="1528263" y="670800"/>
            <a:ext cx="8676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Make sure you have code (ask me) that connects to these 4 things: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80312-74DD-E6AD-A94D-FD1C896C7A73}"/>
              </a:ext>
            </a:extLst>
          </p:cNvPr>
          <p:cNvSpPr/>
          <p:nvPr/>
        </p:nvSpPr>
        <p:spPr>
          <a:xfrm>
            <a:off x="3395555" y="1155583"/>
            <a:ext cx="2156832" cy="1314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Motorized Polarization Paddle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BBB18-D6D6-3C8D-13BE-1EF97EEECDE2}"/>
              </a:ext>
            </a:extLst>
          </p:cNvPr>
          <p:cNvSpPr/>
          <p:nvPr/>
        </p:nvSpPr>
        <p:spPr>
          <a:xfrm>
            <a:off x="5714549" y="1155582"/>
            <a:ext cx="2156832" cy="1314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Fiber Switch Control For Lantern Legs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B958-8718-9BB6-D566-58DF2DFA7C31}"/>
              </a:ext>
            </a:extLst>
          </p:cNvPr>
          <p:cNvSpPr txBox="1"/>
          <p:nvPr/>
        </p:nvSpPr>
        <p:spPr>
          <a:xfrm>
            <a:off x="454549" y="2844657"/>
            <a:ext cx="41732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 sure the reference beam is polarized correctly using the manual paddles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Red Light checker through one leg for coarse alignment to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Bonus:  Use a power meter if you want to measure transmission, but you’d have to calibrate insertion loss through all of the switch ports and hope the connectors are good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D18D0-40B7-A721-6F85-514C07C6F55C}"/>
              </a:ext>
            </a:extLst>
          </p:cNvPr>
          <p:cNvSpPr/>
          <p:nvPr/>
        </p:nvSpPr>
        <p:spPr>
          <a:xfrm>
            <a:off x="8033543" y="1155581"/>
            <a:ext cx="2156832" cy="1314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 Frame Grabber</a:t>
            </a:r>
          </a:p>
        </p:txBody>
      </p:sp>
      <p:pic>
        <p:nvPicPr>
          <p:cNvPr id="11" name="Picture 10" descr="A machine with a tube connected to a device&#10;&#10;AI-generated content may be incorrect.">
            <a:extLst>
              <a:ext uri="{FF2B5EF4-FFF2-40B4-BE49-F238E27FC236}">
                <a16:creationId xmlns:a16="http://schemas.microsoft.com/office/drawing/2014/main" id="{F80BB854-FD61-CF7F-609B-364B6B508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21006"/>
          <a:stretch>
            <a:fillRect/>
          </a:stretch>
        </p:blipFill>
        <p:spPr>
          <a:xfrm>
            <a:off x="5270070" y="3150290"/>
            <a:ext cx="5943600" cy="31485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BCAC81-8D71-84AA-50FD-16454693A15E}"/>
              </a:ext>
            </a:extLst>
          </p:cNvPr>
          <p:cNvSpPr txBox="1">
            <a:spLocks/>
          </p:cNvSpPr>
          <p:nvPr/>
        </p:nvSpPr>
        <p:spPr>
          <a:xfrm>
            <a:off x="5972327" y="5501604"/>
            <a:ext cx="795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Polarizer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9C8D95-6A08-65A2-4C00-47ED84325074}"/>
              </a:ext>
            </a:extLst>
          </p:cNvPr>
          <p:cNvSpPr txBox="1">
            <a:spLocks/>
          </p:cNvSpPr>
          <p:nvPr/>
        </p:nvSpPr>
        <p:spPr>
          <a:xfrm>
            <a:off x="5634079" y="4030016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InGaAs Camera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C014D-25EA-1908-40A8-16865868D7ED}"/>
              </a:ext>
            </a:extLst>
          </p:cNvPr>
          <p:cNvSpPr txBox="1">
            <a:spLocks/>
          </p:cNvSpPr>
          <p:nvPr/>
        </p:nvSpPr>
        <p:spPr>
          <a:xfrm>
            <a:off x="6465053" y="4257111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Beam Splitter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78B24-ACAD-CCEF-78CF-2627567AF2BB}"/>
              </a:ext>
            </a:extLst>
          </p:cNvPr>
          <p:cNvSpPr txBox="1">
            <a:spLocks/>
          </p:cNvSpPr>
          <p:nvPr/>
        </p:nvSpPr>
        <p:spPr>
          <a:xfrm>
            <a:off x="7418631" y="3670743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Beam Expander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91C618-ABE0-D460-852A-CC3F1ADF5142}"/>
              </a:ext>
            </a:extLst>
          </p:cNvPr>
          <p:cNvSpPr txBox="1">
            <a:spLocks/>
          </p:cNvSpPr>
          <p:nvPr/>
        </p:nvSpPr>
        <p:spPr>
          <a:xfrm>
            <a:off x="9701958" y="3267272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Laser Source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8635C-D626-2E87-7DA8-9A8C50CA12E0}"/>
              </a:ext>
            </a:extLst>
          </p:cNvPr>
          <p:cNvSpPr txBox="1">
            <a:spLocks/>
          </p:cNvSpPr>
          <p:nvPr/>
        </p:nvSpPr>
        <p:spPr>
          <a:xfrm>
            <a:off x="10298764" y="4578650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Optical Switch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13C7A3-7327-67B3-55F6-593C4D5EA6ED}"/>
              </a:ext>
            </a:extLst>
          </p:cNvPr>
          <p:cNvSpPr txBox="1">
            <a:spLocks/>
          </p:cNvSpPr>
          <p:nvPr/>
        </p:nvSpPr>
        <p:spPr>
          <a:xfrm>
            <a:off x="8400505" y="5773131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Photonic Lantern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8979-330E-FF72-103D-A1451C5693BC}"/>
              </a:ext>
            </a:extLst>
          </p:cNvPr>
          <p:cNvSpPr txBox="1">
            <a:spLocks/>
          </p:cNvSpPr>
          <p:nvPr/>
        </p:nvSpPr>
        <p:spPr>
          <a:xfrm>
            <a:off x="7326745" y="5631372"/>
            <a:ext cx="7952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Lens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10F13E-C77E-A4FC-BAA3-DF0E94F424DF}"/>
              </a:ext>
            </a:extLst>
          </p:cNvPr>
          <p:cNvCxnSpPr>
            <a:cxnSpLocks/>
          </p:cNvCxnSpPr>
          <p:nvPr/>
        </p:nvCxnSpPr>
        <p:spPr>
          <a:xfrm flipH="1">
            <a:off x="5940933" y="4457701"/>
            <a:ext cx="118759" cy="1767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C52EDB-6CA7-C4F6-B398-505140D8D06D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369954" y="5274509"/>
            <a:ext cx="76344" cy="227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13AAB3-D29E-4055-0013-46337E20597F}"/>
              </a:ext>
            </a:extLst>
          </p:cNvPr>
          <p:cNvCxnSpPr>
            <a:cxnSpLocks/>
          </p:cNvCxnSpPr>
          <p:nvPr/>
        </p:nvCxnSpPr>
        <p:spPr>
          <a:xfrm>
            <a:off x="6941562" y="4691317"/>
            <a:ext cx="85160" cy="228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1AF47A-3204-AED7-4681-2B7E71EB8F48}"/>
              </a:ext>
            </a:extLst>
          </p:cNvPr>
          <p:cNvCxnSpPr>
            <a:cxnSpLocks/>
          </p:cNvCxnSpPr>
          <p:nvPr/>
        </p:nvCxnSpPr>
        <p:spPr>
          <a:xfrm>
            <a:off x="9212278" y="4031628"/>
            <a:ext cx="77406" cy="246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646317-4FE0-C18D-44EB-92852C344478}"/>
              </a:ext>
            </a:extLst>
          </p:cNvPr>
          <p:cNvCxnSpPr>
            <a:cxnSpLocks/>
          </p:cNvCxnSpPr>
          <p:nvPr/>
        </p:nvCxnSpPr>
        <p:spPr>
          <a:xfrm flipH="1">
            <a:off x="7723894" y="5462030"/>
            <a:ext cx="107094" cy="2492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997CED-AE54-E501-186C-10CE29DED741}"/>
              </a:ext>
            </a:extLst>
          </p:cNvPr>
          <p:cNvCxnSpPr>
            <a:cxnSpLocks/>
          </p:cNvCxnSpPr>
          <p:nvPr/>
        </p:nvCxnSpPr>
        <p:spPr>
          <a:xfrm flipH="1">
            <a:off x="8880226" y="5631372"/>
            <a:ext cx="140048" cy="1868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E9102F-DFEA-C05E-CEF6-078013774FD7}"/>
              </a:ext>
            </a:extLst>
          </p:cNvPr>
          <p:cNvCxnSpPr>
            <a:cxnSpLocks/>
          </p:cNvCxnSpPr>
          <p:nvPr/>
        </p:nvCxnSpPr>
        <p:spPr>
          <a:xfrm flipH="1" flipV="1">
            <a:off x="10051506" y="4711300"/>
            <a:ext cx="306105" cy="187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FFC1EA-4CEA-5F5C-2B83-077C6CC700CE}"/>
              </a:ext>
            </a:extLst>
          </p:cNvPr>
          <p:cNvCxnSpPr>
            <a:cxnSpLocks/>
          </p:cNvCxnSpPr>
          <p:nvPr/>
        </p:nvCxnSpPr>
        <p:spPr>
          <a:xfrm flipH="1">
            <a:off x="9854647" y="3686650"/>
            <a:ext cx="121241" cy="2460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09F4874-D3F4-C31E-401B-FB4BB04EC276}"/>
              </a:ext>
            </a:extLst>
          </p:cNvPr>
          <p:cNvSpPr txBox="1">
            <a:spLocks/>
          </p:cNvSpPr>
          <p:nvPr/>
        </p:nvSpPr>
        <p:spPr>
          <a:xfrm>
            <a:off x="8622646" y="3582602"/>
            <a:ext cx="79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10:90 Splitter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0E0543-E10F-9835-9FC4-2CF7522A8447}"/>
              </a:ext>
            </a:extLst>
          </p:cNvPr>
          <p:cNvCxnSpPr>
            <a:cxnSpLocks/>
          </p:cNvCxnSpPr>
          <p:nvPr/>
        </p:nvCxnSpPr>
        <p:spPr>
          <a:xfrm>
            <a:off x="7850364" y="4031628"/>
            <a:ext cx="77406" cy="246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61D73DA-9892-543E-5868-A69DF82746B2}"/>
              </a:ext>
            </a:extLst>
          </p:cNvPr>
          <p:cNvSpPr txBox="1"/>
          <p:nvPr/>
        </p:nvSpPr>
        <p:spPr>
          <a:xfrm>
            <a:off x="10291168" y="3609641"/>
            <a:ext cx="1605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Polarization Paddles Go Here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6D675C-DCDB-3CCE-B3E6-09FDEB653034}"/>
              </a:ext>
            </a:extLst>
          </p:cNvPr>
          <p:cNvCxnSpPr/>
          <p:nvPr/>
        </p:nvCxnSpPr>
        <p:spPr>
          <a:xfrm flipH="1">
            <a:off x="9250981" y="3809696"/>
            <a:ext cx="1040187" cy="647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905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7AE56A-5CE2-52D9-54C5-8CE9D85627C3}"/>
              </a:ext>
            </a:extLst>
          </p:cNvPr>
          <p:cNvSpPr/>
          <p:nvPr/>
        </p:nvSpPr>
        <p:spPr>
          <a:xfrm>
            <a:off x="4289797" y="1948386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For each leg:</a:t>
            </a:r>
          </a:p>
          <a:p>
            <a:pPr algn="ctr"/>
            <a:r>
              <a:rPr lang="en-US" sz="1100" dirty="0"/>
              <a:t>Select Leg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55422-4A20-7DB3-72F3-E3DA3E7C8758}"/>
              </a:ext>
            </a:extLst>
          </p:cNvPr>
          <p:cNvSpPr txBox="1"/>
          <p:nvPr/>
        </p:nvSpPr>
        <p:spPr>
          <a:xfrm>
            <a:off x="1138702" y="4431417"/>
            <a:ext cx="5137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can be adjusted, but I would have the slowest moving part on towards the outside of the loop, testing should be done to figure out appropriate wait times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F35652-043C-E11E-6CA9-A0ECCD8824EC}"/>
              </a:ext>
            </a:extLst>
          </p:cNvPr>
          <p:cNvSpPr/>
          <p:nvPr/>
        </p:nvSpPr>
        <p:spPr>
          <a:xfrm>
            <a:off x="764172" y="1894181"/>
            <a:ext cx="1442301" cy="829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68BAA-5DF6-2AEE-DE16-98653997B5C2}"/>
              </a:ext>
            </a:extLst>
          </p:cNvPr>
          <p:cNvSpPr/>
          <p:nvPr/>
        </p:nvSpPr>
        <p:spPr>
          <a:xfrm>
            <a:off x="2621252" y="1894181"/>
            <a:ext cx="1253765" cy="82955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Connect All Software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0EF70A-E0D3-0E36-3061-665F2E443589}"/>
              </a:ext>
            </a:extLst>
          </p:cNvPr>
          <p:cNvCxnSpPr>
            <a:cxnSpLocks/>
          </p:cNvCxnSpPr>
          <p:nvPr/>
        </p:nvCxnSpPr>
        <p:spPr>
          <a:xfrm>
            <a:off x="2206473" y="2299533"/>
            <a:ext cx="414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12610F-C2EA-8391-107D-09734B61384C}"/>
              </a:ext>
            </a:extLst>
          </p:cNvPr>
          <p:cNvCxnSpPr>
            <a:cxnSpLocks/>
          </p:cNvCxnSpPr>
          <p:nvPr/>
        </p:nvCxnSpPr>
        <p:spPr>
          <a:xfrm>
            <a:off x="3875017" y="2308961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96DF7-AB69-E3AE-B31D-64BBDF0525E5}"/>
              </a:ext>
            </a:extLst>
          </p:cNvPr>
          <p:cNvSpPr/>
          <p:nvPr/>
        </p:nvSpPr>
        <p:spPr>
          <a:xfrm>
            <a:off x="6146877" y="1948386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For each 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𝜆:</a:t>
            </a:r>
          </a:p>
          <a:p>
            <a:pPr algn="ctr"/>
            <a:r>
              <a:rPr lang="en-US" sz="1100" dirty="0"/>
              <a:t> Select Wavelength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B093D2-5F31-C378-38AF-E83B90F86A39}"/>
              </a:ext>
            </a:extLst>
          </p:cNvPr>
          <p:cNvCxnSpPr>
            <a:cxnSpLocks/>
          </p:cNvCxnSpPr>
          <p:nvPr/>
        </p:nvCxnSpPr>
        <p:spPr>
          <a:xfrm>
            <a:off x="5732097" y="2308960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BB246F46-CA94-11D9-C07C-1CFF9B34EA1C}"/>
              </a:ext>
            </a:extLst>
          </p:cNvPr>
          <p:cNvSpPr/>
          <p:nvPr/>
        </p:nvSpPr>
        <p:spPr>
          <a:xfrm>
            <a:off x="8060518" y="1884754"/>
            <a:ext cx="1649691" cy="848413"/>
          </a:xfrm>
          <a:prstGeom prst="flowChartDecision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Are Fringes Visible?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15313-1A5F-EE02-212B-106CCD8B9B8A}"/>
              </a:ext>
            </a:extLst>
          </p:cNvPr>
          <p:cNvSpPr/>
          <p:nvPr/>
        </p:nvSpPr>
        <p:spPr>
          <a:xfrm>
            <a:off x="10304097" y="1957812"/>
            <a:ext cx="1395167" cy="7022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Change Polarization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6B783C-8F23-A5C7-1BAB-4870014A534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9710209" y="2308960"/>
            <a:ext cx="5938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40DC99-464E-27DA-D740-2807BCF76F4D}"/>
              </a:ext>
            </a:extLst>
          </p:cNvPr>
          <p:cNvCxnSpPr>
            <a:cxnSpLocks/>
          </p:cNvCxnSpPr>
          <p:nvPr/>
        </p:nvCxnSpPr>
        <p:spPr>
          <a:xfrm>
            <a:off x="7589177" y="2304246"/>
            <a:ext cx="4713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3C45C9A-DF18-9A54-3094-6E76DE4F72BB}"/>
              </a:ext>
            </a:extLst>
          </p:cNvPr>
          <p:cNvSpPr txBox="1"/>
          <p:nvPr/>
        </p:nvSpPr>
        <p:spPr>
          <a:xfrm>
            <a:off x="9677215" y="2030871"/>
            <a:ext cx="678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nah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6325300-4D3C-7CDE-7B2A-03CEDCBB9E04}"/>
              </a:ext>
            </a:extLst>
          </p:cNvPr>
          <p:cNvCxnSpPr>
            <a:cxnSpLocks/>
            <a:stCxn id="17" idx="0"/>
            <a:endCxn id="16" idx="0"/>
          </p:cNvCxnSpPr>
          <p:nvPr/>
        </p:nvCxnSpPr>
        <p:spPr>
          <a:xfrm rot="16200000" flipV="1">
            <a:off x="9906994" y="863124"/>
            <a:ext cx="73058" cy="2116317"/>
          </a:xfrm>
          <a:prstGeom prst="bentConnector3">
            <a:avLst>
              <a:gd name="adj1" fmla="val 4129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D9E25F-C292-B8B8-FC07-4C7AEEC3353B}"/>
              </a:ext>
            </a:extLst>
          </p:cNvPr>
          <p:cNvCxnSpPr>
            <a:cxnSpLocks/>
            <a:stCxn id="16" idx="2"/>
            <a:endCxn id="30" idx="0"/>
          </p:cNvCxnSpPr>
          <p:nvPr/>
        </p:nvCxnSpPr>
        <p:spPr>
          <a:xfrm flipH="1">
            <a:off x="8885363" y="2733167"/>
            <a:ext cx="1" cy="315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6F9E6-314B-2C79-15D7-CAC742A2AD54}"/>
              </a:ext>
            </a:extLst>
          </p:cNvPr>
          <p:cNvSpPr/>
          <p:nvPr/>
        </p:nvSpPr>
        <p:spPr>
          <a:xfrm>
            <a:off x="8164213" y="3048724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Record Image</a:t>
            </a: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7AA7EAAD-556C-4A2A-57A2-0169968DB819}"/>
              </a:ext>
            </a:extLst>
          </p:cNvPr>
          <p:cNvSpPr/>
          <p:nvPr/>
        </p:nvSpPr>
        <p:spPr>
          <a:xfrm>
            <a:off x="6081260" y="3004675"/>
            <a:ext cx="1573533" cy="809246"/>
          </a:xfrm>
          <a:prstGeom prst="flowChartDecision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Was that all wave- lengths?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C894DF-95CF-491A-59CA-7535487D4DC3}"/>
              </a:ext>
            </a:extLst>
          </p:cNvPr>
          <p:cNvSpPr txBox="1"/>
          <p:nvPr/>
        </p:nvSpPr>
        <p:spPr>
          <a:xfrm>
            <a:off x="8885363" y="2631829"/>
            <a:ext cx="593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B4C357-E073-DB5E-34EA-A492E3AE01E0}"/>
              </a:ext>
            </a:extLst>
          </p:cNvPr>
          <p:cNvSpPr txBox="1"/>
          <p:nvPr/>
        </p:nvSpPr>
        <p:spPr>
          <a:xfrm>
            <a:off x="6858601" y="2706300"/>
            <a:ext cx="678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5040A6-74CF-CAC3-BDFC-37846D8656FE}"/>
              </a:ext>
            </a:extLst>
          </p:cNvPr>
          <p:cNvCxnSpPr>
            <a:cxnSpLocks/>
          </p:cNvCxnSpPr>
          <p:nvPr/>
        </p:nvCxnSpPr>
        <p:spPr>
          <a:xfrm flipH="1">
            <a:off x="7654793" y="3400207"/>
            <a:ext cx="509420" cy="2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1487CC5B-857F-BA47-82DB-7ED7B46BEF78}"/>
              </a:ext>
            </a:extLst>
          </p:cNvPr>
          <p:cNvSpPr/>
          <p:nvPr/>
        </p:nvSpPr>
        <p:spPr>
          <a:xfrm>
            <a:off x="4245018" y="3004675"/>
            <a:ext cx="1531857" cy="809246"/>
          </a:xfrm>
          <a:prstGeom prst="flowChartDecision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Was that all the legs?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677D2AA-4225-44E1-7FA5-6E02A733F7E9}"/>
              </a:ext>
            </a:extLst>
          </p:cNvPr>
          <p:cNvCxnSpPr>
            <a:cxnSpLocks/>
            <a:stCxn id="37" idx="1"/>
            <a:endCxn id="42" idx="3"/>
          </p:cNvCxnSpPr>
          <p:nvPr/>
        </p:nvCxnSpPr>
        <p:spPr>
          <a:xfrm flipH="1">
            <a:off x="5776875" y="3409298"/>
            <a:ext cx="3043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ADA3808-D240-D511-44BD-1FABBA382225}"/>
              </a:ext>
            </a:extLst>
          </p:cNvPr>
          <p:cNvCxnSpPr>
            <a:cxnSpLocks/>
            <a:stCxn id="42" idx="0"/>
            <a:endCxn id="4" idx="2"/>
          </p:cNvCxnSpPr>
          <p:nvPr/>
        </p:nvCxnSpPr>
        <p:spPr>
          <a:xfrm flipV="1">
            <a:off x="5010947" y="2669535"/>
            <a:ext cx="0" cy="33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92BC39C-C04B-6B9D-5613-DB71244D681E}"/>
              </a:ext>
            </a:extLst>
          </p:cNvPr>
          <p:cNvCxnSpPr>
            <a:cxnSpLocks/>
            <a:stCxn id="37" idx="0"/>
            <a:endCxn id="12" idx="2"/>
          </p:cNvCxnSpPr>
          <p:nvPr/>
        </p:nvCxnSpPr>
        <p:spPr>
          <a:xfrm flipV="1">
            <a:off x="6868027" y="2669535"/>
            <a:ext cx="0" cy="33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6B269D9-9007-42A8-13E2-60EA13C8468E}"/>
              </a:ext>
            </a:extLst>
          </p:cNvPr>
          <p:cNvSpPr txBox="1"/>
          <p:nvPr/>
        </p:nvSpPr>
        <p:spPr>
          <a:xfrm>
            <a:off x="4949673" y="2756242"/>
            <a:ext cx="678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nah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5D8FE8-2E59-3234-C1E6-70175DA5F993}"/>
              </a:ext>
            </a:extLst>
          </p:cNvPr>
          <p:cNvSpPr txBox="1"/>
          <p:nvPr/>
        </p:nvSpPr>
        <p:spPr>
          <a:xfrm>
            <a:off x="5682421" y="3050985"/>
            <a:ext cx="593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7FE7B9-9D0A-0674-72ED-9C36F7D810F3}"/>
              </a:ext>
            </a:extLst>
          </p:cNvPr>
          <p:cNvSpPr txBox="1"/>
          <p:nvPr/>
        </p:nvSpPr>
        <p:spPr>
          <a:xfrm>
            <a:off x="3775664" y="3147688"/>
            <a:ext cx="593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yea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4C3A01C-CCF8-5A69-4E3C-FFD930468158}"/>
              </a:ext>
            </a:extLst>
          </p:cNvPr>
          <p:cNvSpPr/>
          <p:nvPr/>
        </p:nvSpPr>
        <p:spPr>
          <a:xfrm>
            <a:off x="2272462" y="3035792"/>
            <a:ext cx="1310325" cy="74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Dope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CC65AAC-170F-8D22-8361-93EBE541F74C}"/>
              </a:ext>
            </a:extLst>
          </p:cNvPr>
          <p:cNvCxnSpPr>
            <a:cxnSpLocks/>
            <a:stCxn id="42" idx="1"/>
            <a:endCxn id="68" idx="6"/>
          </p:cNvCxnSpPr>
          <p:nvPr/>
        </p:nvCxnSpPr>
        <p:spPr>
          <a:xfrm flipH="1">
            <a:off x="3582787" y="3409298"/>
            <a:ext cx="662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12B6047-B712-96BF-092D-0D9DB52A98B1}"/>
              </a:ext>
            </a:extLst>
          </p:cNvPr>
          <p:cNvSpPr txBox="1"/>
          <p:nvPr/>
        </p:nvSpPr>
        <p:spPr>
          <a:xfrm>
            <a:off x="7959181" y="3842239"/>
            <a:ext cx="396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Save images something like:</a:t>
            </a:r>
          </a:p>
          <a:p>
            <a:r>
              <a:rPr lang="en-US" dirty="0"/>
              <a:t> (leg)##-(wavelength)####.npy </a:t>
            </a:r>
          </a:p>
        </p:txBody>
      </p: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301F7BB6-808D-4018-603A-3BD4493D83A2}"/>
              </a:ext>
            </a:extLst>
          </p:cNvPr>
          <p:cNvSpPr/>
          <p:nvPr/>
        </p:nvSpPr>
        <p:spPr>
          <a:xfrm>
            <a:off x="7730392" y="2177138"/>
            <a:ext cx="179110" cy="22318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Decision 92">
            <a:extLst>
              <a:ext uri="{FF2B5EF4-FFF2-40B4-BE49-F238E27FC236}">
                <a16:creationId xmlns:a16="http://schemas.microsoft.com/office/drawing/2014/main" id="{F683745F-8406-F0C7-D9E5-FC5B2F8EB052}"/>
              </a:ext>
            </a:extLst>
          </p:cNvPr>
          <p:cNvSpPr/>
          <p:nvPr/>
        </p:nvSpPr>
        <p:spPr>
          <a:xfrm>
            <a:off x="9886775" y="1551651"/>
            <a:ext cx="179110" cy="22318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EA8A59E-E460-84AB-0700-ACC11760671A}"/>
              </a:ext>
            </a:extLst>
          </p:cNvPr>
          <p:cNvSpPr txBox="1"/>
          <p:nvPr/>
        </p:nvSpPr>
        <p:spPr>
          <a:xfrm>
            <a:off x="7532428" y="1630397"/>
            <a:ext cx="10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EBC2F97-DD1D-194A-9903-B5F34DA64B41}"/>
              </a:ext>
            </a:extLst>
          </p:cNvPr>
          <p:cNvSpPr txBox="1"/>
          <p:nvPr/>
        </p:nvSpPr>
        <p:spPr>
          <a:xfrm>
            <a:off x="9672502" y="1237333"/>
            <a:ext cx="10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 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F6BC295-4541-F898-8084-80A35CB79CAC}"/>
              </a:ext>
            </a:extLst>
          </p:cNvPr>
          <p:cNvCxnSpPr/>
          <p:nvPr/>
        </p:nvCxnSpPr>
        <p:spPr>
          <a:xfrm>
            <a:off x="8885363" y="3529733"/>
            <a:ext cx="485481" cy="3370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6853BB2-8418-6E12-9218-5A18CFA198E2}"/>
              </a:ext>
            </a:extLst>
          </p:cNvPr>
          <p:cNvCxnSpPr>
            <a:cxnSpLocks/>
          </p:cNvCxnSpPr>
          <p:nvPr/>
        </p:nvCxnSpPr>
        <p:spPr>
          <a:xfrm>
            <a:off x="3624928" y="1486966"/>
            <a:ext cx="1386019" cy="543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ECE84F6-BE9D-D4F6-01B1-923339EE4C5D}"/>
              </a:ext>
            </a:extLst>
          </p:cNvPr>
          <p:cNvSpPr txBox="1"/>
          <p:nvPr/>
        </p:nvSpPr>
        <p:spPr>
          <a:xfrm>
            <a:off x="240799" y="1143284"/>
            <a:ext cx="4449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may need to be done manually depending on switch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C3610-AAB6-40B8-EE6D-7B01F562F04D}"/>
              </a:ext>
            </a:extLst>
          </p:cNvPr>
          <p:cNvSpPr txBox="1"/>
          <p:nvPr/>
        </p:nvSpPr>
        <p:spPr>
          <a:xfrm>
            <a:off x="1274323" y="262647"/>
            <a:ext cx="889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Workflow for Data Collection:</a:t>
            </a:r>
          </a:p>
        </p:txBody>
      </p:sp>
    </p:spTree>
    <p:extLst>
      <p:ext uri="{BB962C8B-B14F-4D97-AF65-F5344CB8AC3E}">
        <p14:creationId xmlns:p14="http://schemas.microsoft.com/office/powerpoint/2010/main" val="38834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BA18-51A1-549E-1F37-13F12A99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DFDFB87-945C-1AD8-39A6-7DB41C945595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6289190" y="1761373"/>
            <a:ext cx="1914134" cy="177498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D3566E9-B18F-98FE-4B1D-D3F616F85FBC}"/>
              </a:ext>
            </a:extLst>
          </p:cNvPr>
          <p:cNvCxnSpPr>
            <a:cxnSpLocks/>
          </p:cNvCxnSpPr>
          <p:nvPr/>
        </p:nvCxnSpPr>
        <p:spPr>
          <a:xfrm flipV="1">
            <a:off x="3628619" y="1795678"/>
            <a:ext cx="2748558" cy="124438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5D720AD-AE11-1B19-7044-72B6BF7C4E83}"/>
              </a:ext>
            </a:extLst>
          </p:cNvPr>
          <p:cNvSpPr/>
          <p:nvPr/>
        </p:nvSpPr>
        <p:spPr>
          <a:xfrm>
            <a:off x="5625094" y="1046166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 Centroids of Twin Images in FFT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9248DB-957F-431B-83BF-06C17184E430}"/>
              </a:ext>
            </a:extLst>
          </p:cNvPr>
          <p:cNvSpPr/>
          <p:nvPr/>
        </p:nvSpPr>
        <p:spPr>
          <a:xfrm>
            <a:off x="404249" y="992131"/>
            <a:ext cx="1442301" cy="829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54DB1-77BD-5191-696E-9687D58E9643}"/>
              </a:ext>
            </a:extLst>
          </p:cNvPr>
          <p:cNvSpPr/>
          <p:nvPr/>
        </p:nvSpPr>
        <p:spPr>
          <a:xfrm>
            <a:off x="2261329" y="992131"/>
            <a:ext cx="1253765" cy="82955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Load Data Set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7691D2-A39F-616E-32F3-7A09E22E21E1}"/>
              </a:ext>
            </a:extLst>
          </p:cNvPr>
          <p:cNvCxnSpPr>
            <a:cxnSpLocks/>
          </p:cNvCxnSpPr>
          <p:nvPr/>
        </p:nvCxnSpPr>
        <p:spPr>
          <a:xfrm>
            <a:off x="1846550" y="1406910"/>
            <a:ext cx="414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1F97FC-177D-8FDF-979F-909912438346}"/>
              </a:ext>
            </a:extLst>
          </p:cNvPr>
          <p:cNvCxnSpPr>
            <a:cxnSpLocks/>
          </p:cNvCxnSpPr>
          <p:nvPr/>
        </p:nvCxnSpPr>
        <p:spPr>
          <a:xfrm>
            <a:off x="3515094" y="1400691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DD7791D-FBCD-E8AB-687D-4989F91C933C}"/>
              </a:ext>
            </a:extLst>
          </p:cNvPr>
          <p:cNvSpPr/>
          <p:nvPr/>
        </p:nvSpPr>
        <p:spPr>
          <a:xfrm>
            <a:off x="7482174" y="2030187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Save Ideal Parameters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E87554-6336-7349-75D5-62CD5D30F4EC}"/>
              </a:ext>
            </a:extLst>
          </p:cNvPr>
          <p:cNvCxnSpPr>
            <a:cxnSpLocks/>
          </p:cNvCxnSpPr>
          <p:nvPr/>
        </p:nvCxnSpPr>
        <p:spPr>
          <a:xfrm>
            <a:off x="7067394" y="1394471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EB546A-AA4E-E1F6-0F60-D605ECC36E23}"/>
              </a:ext>
            </a:extLst>
          </p:cNvPr>
          <p:cNvCxnSpPr>
            <a:cxnSpLocks/>
          </p:cNvCxnSpPr>
          <p:nvPr/>
        </p:nvCxnSpPr>
        <p:spPr>
          <a:xfrm flipH="1">
            <a:off x="10036836" y="1708400"/>
            <a:ext cx="1" cy="315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90A3E20-8DC5-1E4C-8D42-3AD5261C3D33}"/>
              </a:ext>
            </a:extLst>
          </p:cNvPr>
          <p:cNvSpPr/>
          <p:nvPr/>
        </p:nvSpPr>
        <p:spPr>
          <a:xfrm>
            <a:off x="9317390" y="2030188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Optimize Parameters [X/Y Offset, Diameter, Phase Factor]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5878B9-8EC8-FA5C-49D2-EC403396BFF6}"/>
              </a:ext>
            </a:extLst>
          </p:cNvPr>
          <p:cNvCxnSpPr>
            <a:cxnSpLocks/>
            <a:stCxn id="30" idx="1"/>
            <a:endCxn id="12" idx="3"/>
          </p:cNvCxnSpPr>
          <p:nvPr/>
        </p:nvCxnSpPr>
        <p:spPr>
          <a:xfrm flipH="1" flipV="1">
            <a:off x="8924474" y="2390762"/>
            <a:ext cx="3929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A9C509AA-F030-A636-94FF-B27751508A6D}"/>
              </a:ext>
            </a:extLst>
          </p:cNvPr>
          <p:cNvSpPr/>
          <p:nvPr/>
        </p:nvSpPr>
        <p:spPr>
          <a:xfrm>
            <a:off x="355610" y="2017255"/>
            <a:ext cx="1310325" cy="7470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Dope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41C2F12-11D3-2B31-9DC2-B6AAB0229919}"/>
              </a:ext>
            </a:extLst>
          </p:cNvPr>
          <p:cNvCxnSpPr>
            <a:cxnSpLocks/>
          </p:cNvCxnSpPr>
          <p:nvPr/>
        </p:nvCxnSpPr>
        <p:spPr>
          <a:xfrm flipH="1" flipV="1">
            <a:off x="7067394" y="2390761"/>
            <a:ext cx="414780" cy="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219AEC4-2B91-3A8B-0AE5-4470A123F8DC}"/>
              </a:ext>
            </a:extLst>
          </p:cNvPr>
          <p:cNvCxnSpPr>
            <a:cxnSpLocks/>
          </p:cNvCxnSpPr>
          <p:nvPr/>
        </p:nvCxnSpPr>
        <p:spPr>
          <a:xfrm flipV="1">
            <a:off x="9398822" y="2751336"/>
            <a:ext cx="657470" cy="335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832843F-9535-2DD2-DC24-733885DC53C4}"/>
              </a:ext>
            </a:extLst>
          </p:cNvPr>
          <p:cNvSpPr txBox="1"/>
          <p:nvPr/>
        </p:nvSpPr>
        <p:spPr>
          <a:xfrm>
            <a:off x="1274323" y="262647"/>
            <a:ext cx="889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Workflow for Data Processing: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7A3F7-A586-FE8F-F0D3-E46EA9675412}"/>
              </a:ext>
            </a:extLst>
          </p:cNvPr>
          <p:cNvSpPr/>
          <p:nvPr/>
        </p:nvSpPr>
        <p:spPr>
          <a:xfrm>
            <a:off x="3928270" y="992131"/>
            <a:ext cx="1253765" cy="82955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 Center of Field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62343C-F23B-B82C-8819-D51558D0C15F}"/>
              </a:ext>
            </a:extLst>
          </p:cNvPr>
          <p:cNvCxnSpPr>
            <a:cxnSpLocks/>
          </p:cNvCxnSpPr>
          <p:nvPr/>
        </p:nvCxnSpPr>
        <p:spPr>
          <a:xfrm>
            <a:off x="5182035" y="1400691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EB6A83-699E-2186-4CCE-D33162EBF928}"/>
              </a:ext>
            </a:extLst>
          </p:cNvPr>
          <p:cNvCxnSpPr/>
          <p:nvPr/>
        </p:nvCxnSpPr>
        <p:spPr>
          <a:xfrm flipV="1">
            <a:off x="6429983" y="729574"/>
            <a:ext cx="995442" cy="447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125A13-1E45-11B1-BA39-BCAE33275CB5}"/>
              </a:ext>
            </a:extLst>
          </p:cNvPr>
          <p:cNvSpPr txBox="1"/>
          <p:nvPr/>
        </p:nvSpPr>
        <p:spPr>
          <a:xfrm>
            <a:off x="7118497" y="502370"/>
            <a:ext cx="380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Note:  Centroid locations are wavelength dependent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5C399D-3047-7FAB-DE41-A7660E1682D8}"/>
              </a:ext>
            </a:extLst>
          </p:cNvPr>
          <p:cNvSpPr/>
          <p:nvPr/>
        </p:nvSpPr>
        <p:spPr>
          <a:xfrm>
            <a:off x="7482174" y="1040224"/>
            <a:ext cx="1442300" cy="7211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 Ballpark Quadratic Phase Error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303323-20DC-ED0E-4EC4-D2B31F612535}"/>
              </a:ext>
            </a:extLst>
          </p:cNvPr>
          <p:cNvCxnSpPr>
            <a:cxnSpLocks/>
          </p:cNvCxnSpPr>
          <p:nvPr/>
        </p:nvCxnSpPr>
        <p:spPr>
          <a:xfrm>
            <a:off x="8924474" y="1394471"/>
            <a:ext cx="41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54DCAA1-1DA9-CF5D-4FCE-0073DE614638}"/>
              </a:ext>
            </a:extLst>
          </p:cNvPr>
          <p:cNvSpPr/>
          <p:nvPr/>
        </p:nvSpPr>
        <p:spPr>
          <a:xfrm>
            <a:off x="9339254" y="1027624"/>
            <a:ext cx="1395167" cy="7022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 (or calculate) Ballpark Mode Field Sizes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88F07C-EAE1-1871-F3AA-05A09EC9ABF6}"/>
              </a:ext>
            </a:extLst>
          </p:cNvPr>
          <p:cNvSpPr/>
          <p:nvPr/>
        </p:nvSpPr>
        <p:spPr>
          <a:xfrm>
            <a:off x="5672228" y="2049040"/>
            <a:ext cx="1395167" cy="7022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Save Decomp and Recovered Fields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F1EAB1-518F-9E48-A641-68B4B32B4D11}"/>
              </a:ext>
            </a:extLst>
          </p:cNvPr>
          <p:cNvSpPr txBox="1"/>
          <p:nvPr/>
        </p:nvSpPr>
        <p:spPr>
          <a:xfrm>
            <a:off x="8044774" y="3154933"/>
            <a:ext cx="3805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Note:  This is a very involved process that can use improvement.  I will share example code, but the idea is you compare a field constructed of idealized modes with your data and try for the closest match.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2417052-7B69-51B3-F69E-9036367BD569}"/>
              </a:ext>
            </a:extLst>
          </p:cNvPr>
          <p:cNvCxnSpPr>
            <a:cxnSpLocks/>
          </p:cNvCxnSpPr>
          <p:nvPr/>
        </p:nvCxnSpPr>
        <p:spPr>
          <a:xfrm flipH="1" flipV="1">
            <a:off x="5257448" y="2400188"/>
            <a:ext cx="414780" cy="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1C1D630-D530-EAE3-9D50-31214714665B}"/>
              </a:ext>
            </a:extLst>
          </p:cNvPr>
          <p:cNvSpPr/>
          <p:nvPr/>
        </p:nvSpPr>
        <p:spPr>
          <a:xfrm>
            <a:off x="3862280" y="2069227"/>
            <a:ext cx="1395167" cy="7022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Set LP01 Phase to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7667FB-3A0A-4599-D233-6C8BDBFFC8D7}"/>
              </a:ext>
            </a:extLst>
          </p:cNvPr>
          <p:cNvCxnSpPr>
            <a:cxnSpLocks/>
          </p:cNvCxnSpPr>
          <p:nvPr/>
        </p:nvCxnSpPr>
        <p:spPr>
          <a:xfrm flipH="1" flipV="1">
            <a:off x="3434867" y="2397878"/>
            <a:ext cx="414780" cy="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DA8F12B-D478-A012-895D-87F9A290F04E}"/>
              </a:ext>
            </a:extLst>
          </p:cNvPr>
          <p:cNvSpPr/>
          <p:nvPr/>
        </p:nvSpPr>
        <p:spPr>
          <a:xfrm>
            <a:off x="2039699" y="2053660"/>
            <a:ext cx="1395167" cy="7022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Make fun plots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7E8F45D-ACC4-F641-3906-DFB8BC1B00D9}"/>
              </a:ext>
            </a:extLst>
          </p:cNvPr>
          <p:cNvCxnSpPr>
            <a:cxnSpLocks/>
          </p:cNvCxnSpPr>
          <p:nvPr/>
        </p:nvCxnSpPr>
        <p:spPr>
          <a:xfrm flipH="1" flipV="1">
            <a:off x="1665934" y="2386141"/>
            <a:ext cx="414780" cy="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6CEF28DD-CC79-BAED-F19A-86EEB1AC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16" y="3570431"/>
            <a:ext cx="3079256" cy="272060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F1030C27-5C5E-CC09-1CE6-5AF214A36BB5}"/>
              </a:ext>
            </a:extLst>
          </p:cNvPr>
          <p:cNvGrpSpPr/>
          <p:nvPr/>
        </p:nvGrpSpPr>
        <p:grpSpPr>
          <a:xfrm>
            <a:off x="1503416" y="3096748"/>
            <a:ext cx="2769589" cy="3224738"/>
            <a:chOff x="4147227" y="3247890"/>
            <a:chExt cx="2769589" cy="322473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C74EE85-7EB6-75C2-927F-F5CF388BA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7227" y="3247890"/>
              <a:ext cx="2769589" cy="32247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684E95B-97C4-9E1E-7A38-F84C79F5B9D0}"/>
                </a:ext>
              </a:extLst>
            </p:cNvPr>
            <p:cNvSpPr/>
            <p:nvPr/>
          </p:nvSpPr>
          <p:spPr>
            <a:xfrm>
              <a:off x="6382339" y="3888653"/>
              <a:ext cx="190743" cy="1945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389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6613</TotalTime>
  <Words>338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 very short overview on the Off-Axis Holography System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Dobias</dc:creator>
  <cp:lastModifiedBy>Caleb Dobias</cp:lastModifiedBy>
  <cp:revision>2</cp:revision>
  <dcterms:created xsi:type="dcterms:W3CDTF">2026-02-06T00:49:15Z</dcterms:created>
  <dcterms:modified xsi:type="dcterms:W3CDTF">2026-02-12T18:13:10Z</dcterms:modified>
</cp:coreProperties>
</file>